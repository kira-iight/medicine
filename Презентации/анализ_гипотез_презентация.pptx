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4630400" cy="8229600"/>
  <p:notesSz cx="8229600" cy="14630400"/>
  <p:embeddedFontLst>
    <p:embeddedFont>
      <p:font typeface="Host Grotesk Medium" panose="020B0604020202020204" charset="0"/>
      <p:regular r:id="rId11"/>
    </p:embeddedFont>
    <p:embeddedFont>
      <p:font typeface="Roboto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mbria Math" panose="02040503050406030204" pitchFamily="18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02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77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1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4580" y="5785263"/>
            <a:ext cx="94792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ПРОВЕРКА</a:t>
            </a:r>
            <a:r>
              <a:rPr lang="ru-RU" sz="4450" dirty="0" smtClean="0"/>
              <a:t> </a:t>
            </a:r>
            <a:r>
              <a:rPr lang="ru-RU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АЛЬТЕРНАТИВНЫХ</a:t>
            </a:r>
            <a:r>
              <a:rPr lang="ru-RU" sz="4450" dirty="0" smtClean="0"/>
              <a:t> </a:t>
            </a:r>
            <a:r>
              <a:rPr lang="ru-RU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ГИПОТЕЗ</a:t>
            </a:r>
            <a:endParaRPr lang="en-US" sz="445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657349" cy="541175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7291" y="7315072"/>
            <a:ext cx="2753109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9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/>
          <p:cNvSpPr/>
          <p:nvPr/>
        </p:nvSpPr>
        <p:spPr>
          <a:xfrm>
            <a:off x="336590" y="1621377"/>
            <a:ext cx="5840275" cy="5539867"/>
          </a:xfrm>
          <a:prstGeom prst="roundRect">
            <a:avLst>
              <a:gd name="adj" fmla="val 4266"/>
            </a:avLst>
          </a:prstGeom>
          <a:solidFill>
            <a:srgbClr val="95CCDA"/>
          </a:solidFill>
          <a:ln/>
        </p:spPr>
      </p:sp>
      <p:sp>
        <p:nvSpPr>
          <p:cNvPr id="3" name="Text 0"/>
          <p:cNvSpPr/>
          <p:nvPr/>
        </p:nvSpPr>
        <p:spPr>
          <a:xfrm>
            <a:off x="336590" y="550492"/>
            <a:ext cx="62867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Зачем мы это делаем?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81822" y="1989936"/>
            <a:ext cx="5495043" cy="480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ru-RU" sz="17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Цели</a:t>
            </a:r>
            <a:r>
              <a:rPr lang="en-US" sz="17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ru-RU" sz="1750" dirty="0" smtClean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Проверить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являются ли различия между кластерами статистически значимыми или </a:t>
            </a:r>
            <a:r>
              <a:rPr lang="en-US" sz="17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возникли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случайно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ru-RU" sz="1750" dirty="0" smtClean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650"/>
              </a:lnSpc>
            </a:pPr>
            <a:endParaRPr lang="ru-RU" sz="175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Обосновать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кластеризация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имеет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смысл</a:t>
            </a:r>
            <a:endParaRPr lang="ru-RU" sz="1750" dirty="0" smtClean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650"/>
              </a:lnSpc>
            </a:pPr>
            <a:endParaRPr lang="ru-RU" sz="1750" dirty="0"/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Подтвердить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признаки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тренды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вариабельность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действительно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разделяют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группы</a:t>
            </a:r>
            <a:endParaRPr lang="ru-RU" sz="1750" dirty="0" smtClean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650"/>
              </a:lnSpc>
            </a:pPr>
            <a:endParaRPr lang="ru-RU" sz="1750" dirty="0"/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Исключить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случайность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объяснение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результатов</a:t>
            </a:r>
            <a:endParaRPr lang="en-US" sz="1750" dirty="0" smtClean="0"/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endParaRPr lang="ru-RU" sz="1750" dirty="0" smtClean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735766" y="1621378"/>
            <a:ext cx="5840275" cy="5539867"/>
          </a:xfrm>
          <a:prstGeom prst="roundRect">
            <a:avLst>
              <a:gd name="adj" fmla="val 4266"/>
            </a:avLst>
          </a:prstGeom>
          <a:solidFill>
            <a:srgbClr val="95CCDA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4"/>
              <p:cNvSpPr/>
              <p:nvPr/>
            </p:nvSpPr>
            <p:spPr>
              <a:xfrm>
                <a:off x="8295602" y="2011117"/>
                <a:ext cx="5140479" cy="32993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2650"/>
                  </a:lnSpc>
                  <a:buSzPct val="100000"/>
                </a:pPr>
                <a:r>
                  <a:rPr lang="ru-RU" sz="1750" b="1" dirty="0" smtClean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Альтернативные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50" b="1" i="1" smtClean="0">
                            <a:solidFill>
                              <a:srgbClr val="384653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</a:rPr>
                        </m:ctrlPr>
                      </m:sSubPr>
                      <m:e>
                        <m:r>
                          <a:rPr lang="en-US" sz="1750" b="1" i="1" smtClean="0">
                            <a:solidFill>
                              <a:srgbClr val="384653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</a:rPr>
                          <m:t>𝑯</m:t>
                        </m:r>
                      </m:e>
                      <m:sub>
                        <m:r>
                          <a:rPr lang="en-US" sz="1750" b="1" i="1" smtClean="0">
                            <a:solidFill>
                              <a:srgbClr val="384653"/>
                            </a:solidFill>
                            <a:latin typeface="Cambria Math" panose="02040503050406030204" pitchFamily="18" charset="0"/>
                            <a:ea typeface="Roboto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750" b="1" dirty="0" smtClean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:</a:t>
                </a:r>
                <a:endParaRPr lang="ru-RU" sz="1750" b="1" dirty="0" smtClean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 marL="342900" indent="-342900">
                  <a:lnSpc>
                    <a:spcPts val="2650"/>
                  </a:lnSpc>
                  <a:buSzPct val="100000"/>
                  <a:buChar char="•"/>
                </a:pPr>
                <a:r>
                  <a:rPr lang="en-US" sz="1750" dirty="0" err="1" smtClean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Тренды</a:t>
                </a:r>
                <a:r>
                  <a:rPr lang="en-US" sz="1750" dirty="0" smtClean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750" dirty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САД </a:t>
                </a:r>
                <a:r>
                  <a:rPr lang="en-US" sz="1750" dirty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различаются </a:t>
                </a:r>
                <a:r>
                  <a:rPr lang="en-US" sz="1750" dirty="0" err="1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между</a:t>
                </a:r>
                <a:r>
                  <a:rPr lang="en-US" sz="1750" dirty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750" dirty="0" err="1" smtClean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кластерами</a:t>
                </a:r>
                <a:endParaRPr lang="en-US" sz="1750" dirty="0" smtClean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650"/>
                  </a:lnSpc>
                  <a:buSzPct val="100000"/>
                </a:pPr>
                <a:endParaRPr lang="en-US" sz="175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 marL="342900" indent="-342900">
                  <a:lnSpc>
                    <a:spcPts val="2650"/>
                  </a:lnSpc>
                  <a:buSzPct val="100000"/>
                  <a:buChar char="•"/>
                </a:pPr>
                <a:r>
                  <a:rPr lang="en-US" sz="1750" dirty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Тренды ДАД различаются </a:t>
                </a:r>
                <a:r>
                  <a:rPr lang="en-US" sz="1750" dirty="0" err="1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между</a:t>
                </a:r>
                <a:r>
                  <a:rPr lang="en-US" sz="1750" dirty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750" dirty="0" err="1" smtClean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кластерами</a:t>
                </a:r>
                <a:endParaRPr lang="en-US" sz="1750" dirty="0" smtClean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650"/>
                  </a:lnSpc>
                  <a:buSzPct val="100000"/>
                </a:pPr>
                <a:endParaRPr lang="en-US" sz="175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 marL="342900" indent="-342900">
                  <a:lnSpc>
                    <a:spcPts val="2650"/>
                  </a:lnSpc>
                  <a:buSzPct val="100000"/>
                  <a:buChar char="•"/>
                </a:pPr>
                <a:r>
                  <a:rPr lang="en-US" sz="1750" dirty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Вариабельность САД различается </a:t>
                </a:r>
                <a:r>
                  <a:rPr lang="en-US" sz="1750" dirty="0" err="1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между</a:t>
                </a:r>
                <a:r>
                  <a:rPr lang="en-US" sz="1750" dirty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</a:t>
                </a:r>
                <a:r>
                  <a:rPr lang="en-US" sz="1750" dirty="0" err="1" smtClean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кластерами</a:t>
                </a:r>
                <a:endParaRPr lang="en-US" sz="1750" dirty="0" smtClean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>
                  <a:lnSpc>
                    <a:spcPts val="2650"/>
                  </a:lnSpc>
                  <a:buSzPct val="100000"/>
                </a:pPr>
                <a:endParaRPr lang="en-US" sz="1750" dirty="0">
                  <a:solidFill>
                    <a:srgbClr val="38465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endParaRPr>
              </a:p>
              <a:p>
                <a:pPr marL="342900" indent="-342900">
                  <a:lnSpc>
                    <a:spcPts val="2650"/>
                  </a:lnSpc>
                  <a:buSzPct val="100000"/>
                  <a:buChar char="•"/>
                </a:pPr>
                <a:r>
                  <a:rPr lang="en-US" sz="1750" dirty="0">
                    <a:solidFill>
                      <a:srgbClr val="38465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Кластер 2 отличается от кластера 3 по тренду САД</a:t>
                </a:r>
              </a:p>
            </p:txBody>
          </p:sp>
        </mc:Choice>
        <mc:Fallback>
          <p:sp>
            <p:nvSpPr>
              <p:cNvPr id="7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602" y="2011117"/>
                <a:ext cx="5140479" cy="3299341"/>
              </a:xfrm>
              <a:prstGeom prst="rect">
                <a:avLst/>
              </a:prstGeom>
              <a:blipFill rotWithShape="0">
                <a:blip r:embed="rId3"/>
                <a:stretch>
                  <a:fillRect l="-2610" t="-555" b="-27911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7291" y="7315072"/>
            <a:ext cx="2753109" cy="914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0543" y="1165146"/>
            <a:ext cx="6723221" cy="52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Какие методы мы использовали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490543" y="1943933"/>
            <a:ext cx="5761792" cy="1923812"/>
          </a:xfrm>
          <a:prstGeom prst="roundRect">
            <a:avLst>
              <a:gd name="adj" fmla="val 368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3403" y="1966793"/>
            <a:ext cx="5716072" cy="506492"/>
          </a:xfrm>
          <a:prstGeom prst="roundRect">
            <a:avLst>
              <a:gd name="adj" fmla="val 8584"/>
            </a:avLst>
          </a:prstGeom>
          <a:solidFill>
            <a:srgbClr val="D9EDF2"/>
          </a:solidFill>
          <a:ln/>
        </p:spPr>
      </p:sp>
      <p:sp>
        <p:nvSpPr>
          <p:cNvPr id="5" name="Text 3"/>
          <p:cNvSpPr/>
          <p:nvPr/>
        </p:nvSpPr>
        <p:spPr>
          <a:xfrm>
            <a:off x="1682234" y="2598896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Тест Шапиро-Уилка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82234" y="2938105"/>
            <a:ext cx="5378410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чего: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Проверка нормальности распределения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82234" y="3234333"/>
            <a:ext cx="5378410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работает: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Сравнивает эмпирическое распределение с нормальным. p &lt; 0.05 → данные не нормальны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77946" y="1943933"/>
            <a:ext cx="5761911" cy="1923812"/>
          </a:xfrm>
          <a:prstGeom prst="roundRect">
            <a:avLst>
              <a:gd name="adj" fmla="val 368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0806" y="1966793"/>
            <a:ext cx="5716191" cy="506492"/>
          </a:xfrm>
          <a:prstGeom prst="roundRect">
            <a:avLst>
              <a:gd name="adj" fmla="val 8584"/>
            </a:avLst>
          </a:prstGeom>
          <a:solidFill>
            <a:srgbClr val="D9EDF2"/>
          </a:solidFill>
          <a:ln/>
        </p:spPr>
      </p:sp>
      <p:sp>
        <p:nvSpPr>
          <p:cNvPr id="10" name="Text 8"/>
          <p:cNvSpPr/>
          <p:nvPr/>
        </p:nvSpPr>
        <p:spPr>
          <a:xfrm>
            <a:off x="7569637" y="2598896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ANOVA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69637" y="2938105"/>
            <a:ext cx="5378529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чего: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Сравнение трёх групп одновременно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69637" y="3234333"/>
            <a:ext cx="537852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работает: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Анализ дисперсии. Оценивает, есть ли различия между группами в целом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90543" y="3993356"/>
            <a:ext cx="5761792" cy="1923812"/>
          </a:xfrm>
          <a:prstGeom prst="roundRect">
            <a:avLst>
              <a:gd name="adj" fmla="val 368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3403" y="4016216"/>
            <a:ext cx="5716072" cy="506492"/>
          </a:xfrm>
          <a:prstGeom prst="roundRect">
            <a:avLst>
              <a:gd name="adj" fmla="val 8584"/>
            </a:avLst>
          </a:prstGeom>
          <a:solidFill>
            <a:srgbClr val="D9EDF2"/>
          </a:solidFill>
          <a:ln/>
        </p:spPr>
      </p:sp>
      <p:sp>
        <p:nvSpPr>
          <p:cNvPr id="15" name="Text 13"/>
          <p:cNvSpPr/>
          <p:nvPr/>
        </p:nvSpPr>
        <p:spPr>
          <a:xfrm>
            <a:off x="1682234" y="4648319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t-test (Стьюдента)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682234" y="4987528"/>
            <a:ext cx="5378410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чего: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Попарное сравнение групп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82234" y="5283756"/>
            <a:ext cx="5378410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работает: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Сравнивает средние двух групп. Учитывает разброс значений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77946" y="3993356"/>
            <a:ext cx="5761911" cy="1923812"/>
          </a:xfrm>
          <a:prstGeom prst="roundRect">
            <a:avLst>
              <a:gd name="adj" fmla="val 368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0806" y="4016216"/>
            <a:ext cx="5716191" cy="506492"/>
          </a:xfrm>
          <a:prstGeom prst="roundRect">
            <a:avLst>
              <a:gd name="adj" fmla="val 8584"/>
            </a:avLst>
          </a:prstGeom>
          <a:solidFill>
            <a:srgbClr val="D9EDF2"/>
          </a:solidFill>
          <a:ln/>
        </p:spPr>
      </p:sp>
      <p:sp>
        <p:nvSpPr>
          <p:cNvPr id="20" name="Text 18"/>
          <p:cNvSpPr/>
          <p:nvPr/>
        </p:nvSpPr>
        <p:spPr>
          <a:xfrm>
            <a:off x="7569637" y="4648319"/>
            <a:ext cx="2381488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Поправка Бонферрони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69637" y="4987528"/>
            <a:ext cx="5378529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чего: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Коррекция множественных сравнений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69637" y="5283756"/>
            <a:ext cx="537852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работает:</a:t>
            </a: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Ужесточает порог значимости: α = 0.05 / число сравнений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90543" y="6105644"/>
            <a:ext cx="301204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Почему выбрали эти методы</a:t>
            </a:r>
            <a:endParaRPr lang="en-US" sz="1650" b="1" dirty="0"/>
          </a:p>
        </p:txBody>
      </p:sp>
      <p:sp>
        <p:nvSpPr>
          <p:cNvPr id="25" name="Text 22"/>
          <p:cNvSpPr/>
          <p:nvPr/>
        </p:nvSpPr>
        <p:spPr>
          <a:xfrm>
            <a:off x="2039183" y="6557963"/>
            <a:ext cx="322968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ANOVA даёт общую картину по всем трём кластерам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974556" y="6557963"/>
            <a:ext cx="3229808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t-test позволяет понять, какие именно пары различаются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9910048" y="6557963"/>
            <a:ext cx="322968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Поправка Бонферрони защищает от ложноположительных результатов</a:t>
            </a:r>
            <a:endParaRPr lang="en-US" sz="1300" dirty="0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2027" y="7534178"/>
            <a:ext cx="2848373" cy="695422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944" y="6515476"/>
            <a:ext cx="390580" cy="362001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424" y="6515476"/>
            <a:ext cx="390580" cy="362001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730" y="6515475"/>
            <a:ext cx="390580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062" y="1370647"/>
            <a:ext cx="9191744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Результаты — нормальность и ANOVA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8062" y="2410897"/>
            <a:ext cx="5088731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Проверка нормальности (Шапиро-Уилка)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8062" y="2909768"/>
            <a:ext cx="6387346" cy="1994059"/>
          </a:xfrm>
          <a:prstGeom prst="roundRect">
            <a:avLst>
              <a:gd name="adj" fmla="val 41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5682" y="2917388"/>
            <a:ext cx="6372106" cy="4947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2373" y="3027164"/>
            <a:ext cx="170580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98946" y="3027164"/>
            <a:ext cx="170199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p-value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01709" y="3027164"/>
            <a:ext cx="1769507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Распределение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5682" y="3412093"/>
            <a:ext cx="6372106" cy="4947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92373" y="3521869"/>
            <a:ext cx="170580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98946" y="3521869"/>
            <a:ext cx="170199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01709" y="3521869"/>
            <a:ext cx="1769507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Не нормальное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5682" y="3906798"/>
            <a:ext cx="6372106" cy="4947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92373" y="4016573"/>
            <a:ext cx="170580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98946" y="4016573"/>
            <a:ext cx="170199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01709" y="4016573"/>
            <a:ext cx="1769507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Не нормальное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5682" y="4401503"/>
            <a:ext cx="6372106" cy="4947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92373" y="4511278"/>
            <a:ext cx="170580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98946" y="4511278"/>
            <a:ext cx="1701998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01709" y="4511278"/>
            <a:ext cx="1769507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Не нормальное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62612" y="2410897"/>
            <a:ext cx="487299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ANOVA (сравнение всех трёх кластеров)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562612" y="2909768"/>
            <a:ext cx="6387346" cy="2819519"/>
          </a:xfrm>
          <a:prstGeom prst="roundRect">
            <a:avLst>
              <a:gd name="adj" fmla="val 29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0232" y="2917388"/>
            <a:ext cx="6372106" cy="10450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67161" y="3027164"/>
            <a:ext cx="183320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Признак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01131" y="3027164"/>
            <a:ext cx="1192173" cy="550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F-статистика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94068" y="3027164"/>
            <a:ext cx="119217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p-value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900183" y="3027164"/>
            <a:ext cx="1250157" cy="82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Различия</a:t>
            </a:r>
            <a:r>
              <a:rPr lang="en-US" sz="150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70232" y="3962400"/>
            <a:ext cx="6372106" cy="4947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67161" y="4072176"/>
            <a:ext cx="183320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Тренд САД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01131" y="4072176"/>
            <a:ext cx="119217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14.538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594068" y="4072176"/>
            <a:ext cx="119217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0.0001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187005" y="4072176"/>
            <a:ext cx="558760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Да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570232" y="4457105"/>
            <a:ext cx="6372106" cy="4947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767161" y="4566880"/>
            <a:ext cx="1833205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Тренд ДАД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001131" y="4566880"/>
            <a:ext cx="119217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4.886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594068" y="4566880"/>
            <a:ext cx="119217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0.0076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187005" y="4566880"/>
            <a:ext cx="558760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Да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570232" y="4951809"/>
            <a:ext cx="6372106" cy="7698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67161" y="5061585"/>
            <a:ext cx="1833205" cy="550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Вариабельность САД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001131" y="5061585"/>
            <a:ext cx="119217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3.849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1594068" y="5061585"/>
            <a:ext cx="119217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0.0214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3187005" y="5061585"/>
            <a:ext cx="558760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Да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88062" y="6112669"/>
            <a:ext cx="13254276" cy="746165"/>
          </a:xfrm>
          <a:prstGeom prst="roundRect">
            <a:avLst>
              <a:gd name="adj" fmla="val 11067"/>
            </a:avLst>
          </a:prstGeom>
          <a:solidFill>
            <a:srgbClr val="C6E4EB"/>
          </a:solidFill>
          <a:ln/>
        </p:spPr>
      </p:sp>
      <p:sp>
        <p:nvSpPr>
          <p:cNvPr id="45" name="Text 42"/>
          <p:cNvSpPr/>
          <p:nvPr/>
        </p:nvSpPr>
        <p:spPr>
          <a:xfrm>
            <a:off x="892373" y="6332101"/>
            <a:ext cx="12418814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Вывод:</a:t>
            </a: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Все три признака статистически значимо различаются между кластерами на уровне α = 0.05.</a:t>
            </a:r>
            <a:endParaRPr lang="en-US" sz="1500" dirty="0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2027" y="7534178"/>
            <a:ext cx="2848373" cy="6954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236" y="863441"/>
            <a:ext cx="9309973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Результаты — попарные сравнения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2236" y="1922859"/>
            <a:ext cx="13145929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Попарные сравнения (t-test с поправкой Бонферрони, α = 0.0167):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2236" y="2453521"/>
            <a:ext cx="13145929" cy="2258378"/>
          </a:xfrm>
          <a:prstGeom prst="roundRect">
            <a:avLst>
              <a:gd name="adj" fmla="val 394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56" y="2461141"/>
            <a:ext cx="13130689" cy="5607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2025" y="2587704"/>
            <a:ext cx="3248620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Сравнение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642366" y="2587704"/>
            <a:ext cx="271962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Тренд САД (p)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93712" y="2587704"/>
            <a:ext cx="271962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Тренд ДАД (p)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945058" y="2587704"/>
            <a:ext cx="272343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Вариабельность (p)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9856" y="3021925"/>
            <a:ext cx="13130689" cy="5607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2025" y="3148489"/>
            <a:ext cx="3248620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 1 vs 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42366" y="3148489"/>
            <a:ext cx="271962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0.0018 </a:t>
            </a:r>
            <a:r>
              <a:rPr lang="en-US" sz="1650" b="1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endParaRPr lang="en-US" sz="1650" dirty="0">
              <a:solidFill>
                <a:srgbClr val="00B05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93712" y="3148489"/>
            <a:ext cx="271962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0.0539 </a:t>
            </a:r>
            <a:r>
              <a:rPr lang="en-US" sz="165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endParaRPr lang="en-US" sz="165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45058" y="3148489"/>
            <a:ext cx="272343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0.0084 </a:t>
            </a:r>
            <a:r>
              <a:rPr lang="en-US" sz="1650" b="1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endParaRPr lang="en-US" sz="1650" dirty="0">
              <a:solidFill>
                <a:srgbClr val="00B05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856" y="3582710"/>
            <a:ext cx="13130689" cy="5607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2025" y="3709273"/>
            <a:ext cx="3248620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 1 vs 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42366" y="3709273"/>
            <a:ext cx="271962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0.3937 </a:t>
            </a:r>
            <a:r>
              <a:rPr lang="en-US" sz="165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endParaRPr lang="en-US" sz="165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93712" y="3709273"/>
            <a:ext cx="271962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0.3984 </a:t>
            </a:r>
            <a:r>
              <a:rPr lang="en-US" sz="165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endParaRPr lang="en-US" sz="165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45058" y="3709273"/>
            <a:ext cx="272343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0.0976 </a:t>
            </a:r>
            <a:r>
              <a:rPr lang="en-US" sz="165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endParaRPr lang="en-US" sz="1650" dirty="0">
              <a:solidFill>
                <a:srgbClr val="FF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9856" y="4143494"/>
            <a:ext cx="13130689" cy="5607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2025" y="4270058"/>
            <a:ext cx="3248620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 2 vs 3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642366" y="4270058"/>
            <a:ext cx="271962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&lt;0.0001 </a:t>
            </a:r>
            <a:r>
              <a:rPr lang="en-US" sz="1650" b="1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endParaRPr lang="en-US" sz="1650" dirty="0">
              <a:solidFill>
                <a:srgbClr val="00B05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93712" y="4270058"/>
            <a:ext cx="271962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0.0115 </a:t>
            </a:r>
            <a:r>
              <a:rPr lang="en-US" sz="1650" b="1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endParaRPr lang="en-US" sz="1650" dirty="0">
              <a:solidFill>
                <a:srgbClr val="00B05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45058" y="4270058"/>
            <a:ext cx="272343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0.1583 </a:t>
            </a:r>
            <a:r>
              <a:rPr lang="en-US" sz="165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endParaRPr lang="en-US" sz="165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2236" y="4934903"/>
            <a:ext cx="13145929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Зелёным выделены статистически значимые различия (p &lt; α).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42236" y="5539978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Что </a:t>
            </a:r>
            <a:r>
              <a:rPr lang="en-US" sz="205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это</a:t>
            </a: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sz="2050" dirty="0" err="1" smtClean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значит</a:t>
            </a:r>
            <a:r>
              <a:rPr lang="ru-RU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?</a:t>
            </a:r>
            <a:endParaRPr lang="en-US" sz="2050" dirty="0"/>
          </a:p>
        </p:txBody>
      </p:sp>
      <p:sp>
        <p:nvSpPr>
          <p:cNvPr id="27" name="Shape 25"/>
          <p:cNvSpPr/>
          <p:nvPr/>
        </p:nvSpPr>
        <p:spPr>
          <a:xfrm>
            <a:off x="742236" y="6168747"/>
            <a:ext cx="4249817" cy="1197292"/>
          </a:xfrm>
          <a:prstGeom prst="roundRect">
            <a:avLst>
              <a:gd name="adj" fmla="val 744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1906" y="6388417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Тренд САД</a:t>
            </a:r>
            <a:endParaRPr lang="en-US" sz="2050" dirty="0"/>
          </a:p>
        </p:txBody>
      </p:sp>
      <p:sp>
        <p:nvSpPr>
          <p:cNvPr id="29" name="Text 27"/>
          <p:cNvSpPr/>
          <p:nvPr/>
        </p:nvSpPr>
        <p:spPr>
          <a:xfrm>
            <a:off x="961906" y="6838712"/>
            <a:ext cx="381047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Различаются все пары, КРОМЕ 1 vs 3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5190292" y="6168747"/>
            <a:ext cx="4249817" cy="1197292"/>
          </a:xfrm>
          <a:prstGeom prst="roundRect">
            <a:avLst>
              <a:gd name="adj" fmla="val 744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09962" y="6388417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Тренд ДАД</a:t>
            </a:r>
            <a:endParaRPr lang="en-US" sz="2050" dirty="0"/>
          </a:p>
        </p:txBody>
      </p:sp>
      <p:sp>
        <p:nvSpPr>
          <p:cNvPr id="32" name="Text 30"/>
          <p:cNvSpPr/>
          <p:nvPr/>
        </p:nvSpPr>
        <p:spPr>
          <a:xfrm>
            <a:off x="5409962" y="6838712"/>
            <a:ext cx="381047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Различаются только 2 vs 3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638348" y="6168747"/>
            <a:ext cx="4249817" cy="1197292"/>
          </a:xfrm>
          <a:prstGeom prst="roundRect">
            <a:avLst>
              <a:gd name="adj" fmla="val 744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58018" y="6388417"/>
            <a:ext cx="265116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Вариабельность</a:t>
            </a:r>
            <a:endParaRPr lang="en-US" sz="2050" dirty="0"/>
          </a:p>
        </p:txBody>
      </p:sp>
      <p:sp>
        <p:nvSpPr>
          <p:cNvPr id="35" name="Text 33"/>
          <p:cNvSpPr/>
          <p:nvPr/>
        </p:nvSpPr>
        <p:spPr>
          <a:xfrm>
            <a:off x="9858018" y="6838712"/>
            <a:ext cx="381047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Различаются только 1 vs 2</a:t>
            </a:r>
            <a:endParaRPr lang="en-US" sz="1650" dirty="0"/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2027" y="7534178"/>
            <a:ext cx="2848373" cy="6954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066" y="1030962"/>
            <a:ext cx="6654879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Итоговая таблица гипотез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8066" y="2043232"/>
            <a:ext cx="13194268" cy="3200638"/>
          </a:xfrm>
          <a:prstGeom prst="roundRect">
            <a:avLst>
              <a:gd name="adj" fmla="val 269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5686" y="2050852"/>
            <a:ext cx="13179028" cy="530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30950" y="2169795"/>
            <a:ext cx="617541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Альтернативная гипотеза (H₁)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24274" y="2169795"/>
            <a:ext cx="287678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18971" y="2169795"/>
            <a:ext cx="28805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p-value (минимальный)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5686" y="2581751"/>
            <a:ext cx="13179028" cy="5309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30950" y="2700695"/>
            <a:ext cx="617541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Тренды САД различаются между кластерами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24274" y="2700695"/>
            <a:ext cx="287678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ПОДТВЕРЖДЕНА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818971" y="2700695"/>
            <a:ext cx="28805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0.0001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5686" y="3112651"/>
            <a:ext cx="13179028" cy="530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30950" y="3231594"/>
            <a:ext cx="617541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Тренды ДАД различаются между кластерами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24274" y="3231594"/>
            <a:ext cx="287678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ПОДТВЕРЖДЕНА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18971" y="3231594"/>
            <a:ext cx="28805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0.0076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5686" y="3643551"/>
            <a:ext cx="13179028" cy="5309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30950" y="3762494"/>
            <a:ext cx="617541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Вариабельность САД различается между кластерами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4274" y="3762494"/>
            <a:ext cx="287678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ПОДТВЕРЖДЕНА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18971" y="3762494"/>
            <a:ext cx="28805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0.0214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5686" y="4174450"/>
            <a:ext cx="13179028" cy="530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30950" y="4293394"/>
            <a:ext cx="617541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 2 отличается от кластера 3 по тренду САД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24274" y="4293394"/>
            <a:ext cx="287678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ПОДТВЕРЖДЕНА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18971" y="4293394"/>
            <a:ext cx="28805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0.0001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5686" y="4705350"/>
            <a:ext cx="13179028" cy="5309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0950" y="4824293"/>
            <a:ext cx="617541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Вариабельность САД в кластере 2 выше, чем в кластере 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24274" y="4824293"/>
            <a:ext cx="287678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ПОДТВЕРЖДЕНА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18971" y="4824293"/>
            <a:ext cx="28805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0.1583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8066" y="5555099"/>
            <a:ext cx="6481167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4/5</a:t>
            </a:r>
            <a:endParaRPr lang="en-US" sz="5300" dirty="0"/>
          </a:p>
        </p:txBody>
      </p:sp>
      <p:sp>
        <p:nvSpPr>
          <p:cNvPr id="29" name="Text 27"/>
          <p:cNvSpPr/>
          <p:nvPr/>
        </p:nvSpPr>
        <p:spPr>
          <a:xfrm>
            <a:off x="2507694" y="6473785"/>
            <a:ext cx="2901910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Гипотез подтверждено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18066" y="6905625"/>
            <a:ext cx="6481167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Общий вывод: 4 из 5 гипотез подтверждены статистически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31167" y="5555099"/>
            <a:ext cx="6481167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&lt;0.0001</a:t>
            </a:r>
            <a:endParaRPr lang="en-US" sz="5300" dirty="0"/>
          </a:p>
        </p:txBody>
      </p:sp>
      <p:sp>
        <p:nvSpPr>
          <p:cNvPr id="32" name="Text 30"/>
          <p:cNvSpPr/>
          <p:nvPr/>
        </p:nvSpPr>
        <p:spPr>
          <a:xfrm>
            <a:off x="9253180" y="6473785"/>
            <a:ext cx="2837140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Минимальный p-value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31167" y="6905625"/>
            <a:ext cx="6481167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Тренд САД — наиболее значимый признак разделения кластеров</a:t>
            </a:r>
            <a:endParaRPr lang="en-US" sz="1600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2027" y="7534178"/>
            <a:ext cx="2848373" cy="695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"/>
          <p:cNvSpPr/>
          <p:nvPr/>
        </p:nvSpPr>
        <p:spPr>
          <a:xfrm>
            <a:off x="1237407" y="2357129"/>
            <a:ext cx="5426469" cy="4447223"/>
          </a:xfrm>
          <a:prstGeom prst="roundRect">
            <a:avLst>
              <a:gd name="adj" fmla="val 2666"/>
            </a:avLst>
          </a:prstGeom>
          <a:solidFill>
            <a:srgbClr val="95CCDA"/>
          </a:solidFill>
          <a:ln/>
        </p:spPr>
      </p:sp>
      <p:sp>
        <p:nvSpPr>
          <p:cNvPr id="21" name="Shape 1"/>
          <p:cNvSpPr/>
          <p:nvPr/>
        </p:nvSpPr>
        <p:spPr>
          <a:xfrm>
            <a:off x="8229146" y="2357130"/>
            <a:ext cx="5692127" cy="4447223"/>
          </a:xfrm>
          <a:prstGeom prst="roundRect">
            <a:avLst>
              <a:gd name="adj" fmla="val 2666"/>
            </a:avLst>
          </a:prstGeom>
          <a:solidFill>
            <a:srgbClr val="95CCDA"/>
          </a:solidFill>
          <a:ln/>
        </p:spPr>
      </p:sp>
      <p:sp>
        <p:nvSpPr>
          <p:cNvPr id="3" name="Text 0"/>
          <p:cNvSpPr/>
          <p:nvPr/>
        </p:nvSpPr>
        <p:spPr>
          <a:xfrm>
            <a:off x="1237407" y="1081454"/>
            <a:ext cx="6381869" cy="471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Ограничения и дальнейшие шаги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1237407" y="2357130"/>
            <a:ext cx="4631548" cy="4447223"/>
          </a:xfrm>
          <a:prstGeom prst="roundRect">
            <a:avLst>
              <a:gd name="adj" fmla="val 2666"/>
            </a:avLst>
          </a:prstGeom>
          <a:solidFill>
            <a:srgbClr val="95CCDA"/>
          </a:solidFill>
          <a:ln/>
        </p:spPr>
      </p:sp>
      <p:sp>
        <p:nvSpPr>
          <p:cNvPr id="5" name="Text 2"/>
          <p:cNvSpPr/>
          <p:nvPr/>
        </p:nvSpPr>
        <p:spPr>
          <a:xfrm>
            <a:off x="1388259" y="2624210"/>
            <a:ext cx="281261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Ограничения нашего анализа</a:t>
            </a:r>
          </a:p>
        </p:txBody>
      </p:sp>
      <p:sp>
        <p:nvSpPr>
          <p:cNvPr id="6" name="Text 3"/>
          <p:cNvSpPr/>
          <p:nvPr/>
        </p:nvSpPr>
        <p:spPr>
          <a:xfrm>
            <a:off x="1388259" y="2995781"/>
            <a:ext cx="4294084" cy="1201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Данные не нормальны (но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t-test </a:t>
            </a:r>
            <a:r>
              <a:rPr 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устойчив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больших </a:t>
            </a:r>
            <a:r>
              <a:rPr lang="en-US" sz="17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выборках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5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Поправка Бонферрони консервативна (может давать ложноотрицательные </a:t>
            </a:r>
            <a:r>
              <a:rPr lang="en-US" sz="17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результаты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5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Мы не проверяли взаимодействие между признаками</a:t>
            </a:r>
          </a:p>
        </p:txBody>
      </p:sp>
      <p:sp>
        <p:nvSpPr>
          <p:cNvPr id="7" name="Text 4"/>
          <p:cNvSpPr/>
          <p:nvPr/>
        </p:nvSpPr>
        <p:spPr>
          <a:xfrm>
            <a:off x="8496354" y="2524055"/>
            <a:ext cx="3859649" cy="471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Что можно </a:t>
            </a:r>
            <a:r>
              <a:rPr lang="en-US" b="1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сделать</a:t>
            </a:r>
            <a:r>
              <a:rPr lang="en-US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</a:t>
            </a:r>
            <a:r>
              <a:rPr lang="en-US" b="1" dirty="0" err="1" smtClean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дальше</a:t>
            </a:r>
            <a:r>
              <a:rPr lang="ru-RU" b="1" dirty="0" smtClean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?</a:t>
            </a:r>
            <a:endParaRPr lang="en-US" b="1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708" y="4181644"/>
            <a:ext cx="3859649" cy="15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96354" y="2846760"/>
            <a:ext cx="5182325" cy="266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Использовать непараметрические тесты (Крускал-Уоллис, Манна-Уитни) </a:t>
            </a:r>
            <a:r>
              <a:rPr lang="en-US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</a:t>
            </a: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подтверждения</a:t>
            </a:r>
            <a:endParaRPr lang="ru-RU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Построить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ROC-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кривые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оценки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качества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разделения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кластеров</a:t>
            </a:r>
            <a:endParaRPr lang="ru-RU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Обучить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классификатор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предсказания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кластера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признакам</a:t>
            </a:r>
            <a:endParaRPr lang="ru-RU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Провести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кросс-валидацию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проверки</a:t>
            </a:r>
            <a:r>
              <a:rPr lang="en-US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устойчивости</a:t>
            </a:r>
            <a:endParaRPr lang="en-US" dirty="0" smtClean="0"/>
          </a:p>
          <a:p>
            <a:pPr>
              <a:lnSpc>
                <a:spcPts val="1450"/>
              </a:lnSpc>
            </a:pPr>
            <a:endParaRPr lang="en-US" dirty="0" smtClean="0"/>
          </a:p>
          <a:p>
            <a:pPr>
              <a:lnSpc>
                <a:spcPts val="1450"/>
              </a:lnSpc>
            </a:pPr>
            <a:endParaRPr lang="en-US" dirty="0" smtClean="0"/>
          </a:p>
          <a:p>
            <a:pPr marL="0" indent="0" algn="l">
              <a:lnSpc>
                <a:spcPts val="1450"/>
              </a:lnSpc>
              <a:buNone/>
            </a:pPr>
            <a:endParaRPr lang="ru-RU" dirty="0" smtClean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619708" y="4877922"/>
            <a:ext cx="150852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708" y="5103902"/>
            <a:ext cx="3859649" cy="1524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708" y="6026280"/>
            <a:ext cx="3859649" cy="1524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708" y="6948538"/>
            <a:ext cx="3859649" cy="1524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2027" y="7534178"/>
            <a:ext cx="2848373" cy="695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2027" y="7534178"/>
            <a:ext cx="2848373" cy="695422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817845"/>
            <a:ext cx="14657349" cy="5411755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64580" y="1894391"/>
            <a:ext cx="94792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 smtClean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СПАСИБО ЗА ВНИМАНИЕ!</a:t>
            </a:r>
            <a:endParaRPr lang="en-US" sz="445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7091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511</Words>
  <Application>Microsoft Office PowerPoint</Application>
  <PresentationFormat>Произвольный</PresentationFormat>
  <Paragraphs>139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Host Grotesk Medium</vt:lpstr>
      <vt:lpstr>Arial</vt:lpstr>
      <vt:lpstr>Roboto</vt:lpstr>
      <vt:lpstr>Calibri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HP</dc:creator>
  <cp:lastModifiedBy>Учетная запись Майкрософт</cp:lastModifiedBy>
  <cp:revision>6</cp:revision>
  <dcterms:created xsi:type="dcterms:W3CDTF">2026-04-05T19:40:04Z</dcterms:created>
  <dcterms:modified xsi:type="dcterms:W3CDTF">2026-04-05T20:27:19Z</dcterms:modified>
</cp:coreProperties>
</file>